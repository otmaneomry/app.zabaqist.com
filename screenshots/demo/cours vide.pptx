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19" r:id="rId2"/>
    <p:sldId id="320" r:id="rId3"/>
    <p:sldId id="266" r:id="rId4"/>
    <p:sldId id="293" r:id="rId5"/>
    <p:sldId id="256" r:id="rId6"/>
    <p:sldId id="267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58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9801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961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512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25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226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287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35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13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90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525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17716-60A8-4584-9DB1-91A4D886C2B1}" type="datetimeFigureOut">
              <a:rPr lang="fr-FR" smtClean="0"/>
              <a:t>04/11/2020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44D0B-1121-481C-85B2-53A3EA6239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9586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6DD04D90-9FC8-466C-B513-7430F503605C}"/>
              </a:ext>
            </a:extLst>
          </p:cNvPr>
          <p:cNvSpPr txBox="1"/>
          <p:nvPr/>
        </p:nvSpPr>
        <p:spPr>
          <a:xfrm>
            <a:off x="783770" y="1815253"/>
            <a:ext cx="1124494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« </a:t>
            </a:r>
            <a:r>
              <a:rPr lang="en-US" sz="44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Education is not the learning of facts, but the training of the mind to think</a:t>
            </a:r>
            <a:r>
              <a:rPr lang="fr-FR" sz="44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A2DA71B-F55B-45BE-8156-35763C66F64D}"/>
              </a:ext>
            </a:extLst>
          </p:cNvPr>
          <p:cNvSpPr txBox="1"/>
          <p:nvPr/>
        </p:nvSpPr>
        <p:spPr>
          <a:xfrm>
            <a:off x="9470571" y="6232654"/>
            <a:ext cx="2558143" cy="4001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00:12 04/11/2020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31DBE4-07B5-4A58-9DAD-8D7468F09D98}"/>
              </a:ext>
            </a:extLst>
          </p:cNvPr>
          <p:cNvSpPr txBox="1"/>
          <p:nvPr/>
        </p:nvSpPr>
        <p:spPr>
          <a:xfrm>
            <a:off x="3347853" y="1884347"/>
            <a:ext cx="531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b="1" dirty="0"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abolical" panose="000004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D8CC23-9FE1-4794-A63E-4AF056941F15}"/>
              </a:ext>
            </a:extLst>
          </p:cNvPr>
          <p:cNvSpPr/>
          <p:nvPr/>
        </p:nvSpPr>
        <p:spPr>
          <a:xfrm>
            <a:off x="-1" y="0"/>
            <a:ext cx="12170231" cy="6760029"/>
          </a:xfrm>
          <a:prstGeom prst="rect">
            <a:avLst/>
          </a:prstGeom>
          <a:noFill/>
          <a:ln w="1905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2EDFF4-74A2-49C1-901F-4F5E6E44CB40}"/>
              </a:ext>
            </a:extLst>
          </p:cNvPr>
          <p:cNvSpPr txBox="1"/>
          <p:nvPr/>
        </p:nvSpPr>
        <p:spPr>
          <a:xfrm>
            <a:off x="7440385" y="4614277"/>
            <a:ext cx="4060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Albert Einstein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E8F9A1-25B8-49B9-8E87-D02C1BED3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61" y="170818"/>
            <a:ext cx="1469910" cy="16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5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580F7AA-A168-48EF-95F0-9EAED40C7A55}"/>
              </a:ext>
            </a:extLst>
          </p:cNvPr>
          <p:cNvSpPr txBox="1"/>
          <p:nvPr/>
        </p:nvSpPr>
        <p:spPr>
          <a:xfrm>
            <a:off x="424543" y="369331"/>
            <a:ext cx="462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Collège : Moulay Youssef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5282833-91F9-47D5-BA8D-60D9BDB9187D}"/>
              </a:ext>
            </a:extLst>
          </p:cNvPr>
          <p:cNvSpPr txBox="1"/>
          <p:nvPr/>
        </p:nvSpPr>
        <p:spPr>
          <a:xfrm>
            <a:off x="424542" y="864631"/>
            <a:ext cx="4626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Direction provinciale: ANFA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FB85483-EFE4-4853-B01D-4545B019173F}"/>
              </a:ext>
            </a:extLst>
          </p:cNvPr>
          <p:cNvSpPr txBox="1"/>
          <p:nvPr/>
        </p:nvSpPr>
        <p:spPr>
          <a:xfrm>
            <a:off x="424540" y="1359931"/>
            <a:ext cx="6712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Académie </a:t>
            </a:r>
            <a:r>
              <a:rPr lang="fr-FR" sz="28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régionale</a:t>
            </a:r>
            <a:r>
              <a:rPr lang="fr-FR" sz="24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: Casablanca- Settat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DD04D90-9FC8-466C-B513-7430F503605C}"/>
              </a:ext>
            </a:extLst>
          </p:cNvPr>
          <p:cNvSpPr txBox="1"/>
          <p:nvPr/>
        </p:nvSpPr>
        <p:spPr>
          <a:xfrm>
            <a:off x="2933204" y="2681812"/>
            <a:ext cx="6852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Mathématiques</a:t>
            </a:r>
            <a:r>
              <a:rPr lang="fr-FR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A2DA71B-F55B-45BE-8156-35763C66F64D}"/>
              </a:ext>
            </a:extLst>
          </p:cNvPr>
          <p:cNvSpPr txBox="1"/>
          <p:nvPr/>
        </p:nvSpPr>
        <p:spPr>
          <a:xfrm>
            <a:off x="8186552" y="6297002"/>
            <a:ext cx="3983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Année scolaire: 2020-2021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C44BA1C-C9C1-43DA-8313-C8D6B88B2977}"/>
              </a:ext>
            </a:extLst>
          </p:cNvPr>
          <p:cNvSpPr txBox="1"/>
          <p:nvPr/>
        </p:nvSpPr>
        <p:spPr>
          <a:xfrm>
            <a:off x="6662057" y="495299"/>
            <a:ext cx="5508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Professeur : JAOUHARI MOUNIR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31DBE4-07B5-4A58-9DAD-8D7468F09D98}"/>
              </a:ext>
            </a:extLst>
          </p:cNvPr>
          <p:cNvSpPr txBox="1"/>
          <p:nvPr/>
        </p:nvSpPr>
        <p:spPr>
          <a:xfrm>
            <a:off x="3440380" y="4126804"/>
            <a:ext cx="531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Niveaux: 3</a:t>
            </a:r>
            <a:r>
              <a:rPr lang="fr-FR" sz="2800" b="1" baseline="300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ème</a:t>
            </a:r>
            <a:r>
              <a:rPr lang="fr-FR" sz="2800" b="1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  APIC Collège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D8CC23-9FE1-4794-A63E-4AF056941F15}"/>
              </a:ext>
            </a:extLst>
          </p:cNvPr>
          <p:cNvSpPr/>
          <p:nvPr/>
        </p:nvSpPr>
        <p:spPr>
          <a:xfrm>
            <a:off x="-1" y="0"/>
            <a:ext cx="12170231" cy="6780277"/>
          </a:xfrm>
          <a:prstGeom prst="rect">
            <a:avLst/>
          </a:prstGeom>
          <a:noFill/>
          <a:ln w="1905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571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2F324FA8-970D-488B-8586-ACB80E81D881}"/>
              </a:ext>
            </a:extLst>
          </p:cNvPr>
          <p:cNvGrpSpPr/>
          <p:nvPr/>
        </p:nvGrpSpPr>
        <p:grpSpPr>
          <a:xfrm>
            <a:off x="-1" y="0"/>
            <a:ext cx="12334010" cy="6858000"/>
            <a:chOff x="-1" y="0"/>
            <a:chExt cx="12334010" cy="6858000"/>
          </a:xfrm>
        </p:grpSpPr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7580F7AA-A168-48EF-95F0-9EAED40C7A55}"/>
                </a:ext>
              </a:extLst>
            </p:cNvPr>
            <p:cNvSpPr txBox="1"/>
            <p:nvPr/>
          </p:nvSpPr>
          <p:spPr>
            <a:xfrm>
              <a:off x="424543" y="369331"/>
              <a:ext cx="40930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latin typeface="Arabolical" panose="00000400000000000000" pitchFamily="2" charset="0"/>
                </a:rPr>
                <a:t>Collège : Moulay Youssef</a:t>
              </a:r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95282833-91F9-47D5-BA8D-60D9BDB9187D}"/>
                </a:ext>
              </a:extLst>
            </p:cNvPr>
            <p:cNvSpPr txBox="1"/>
            <p:nvPr/>
          </p:nvSpPr>
          <p:spPr>
            <a:xfrm>
              <a:off x="424543" y="864631"/>
              <a:ext cx="39079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>
                  <a:latin typeface="Arabolical" panose="00000400000000000000" pitchFamily="2" charset="0"/>
                </a:rPr>
                <a:t>Direction provinciale: ANFA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FB85483-EFE4-4853-B01D-4545B019173F}"/>
                </a:ext>
              </a:extLst>
            </p:cNvPr>
            <p:cNvSpPr txBox="1"/>
            <p:nvPr/>
          </p:nvSpPr>
          <p:spPr>
            <a:xfrm>
              <a:off x="424542" y="1359931"/>
              <a:ext cx="56714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latin typeface="Arabolical" panose="00000400000000000000" pitchFamily="2" charset="0"/>
                </a:rPr>
                <a:t>Académie </a:t>
              </a:r>
              <a:r>
                <a:rPr lang="fr-FR" sz="2400" b="1" dirty="0">
                  <a:latin typeface="Arabolical" panose="00000400000000000000" pitchFamily="2" charset="0"/>
                </a:rPr>
                <a:t>régionale</a:t>
              </a:r>
              <a:r>
                <a:rPr lang="fr-FR" sz="2000" b="1" dirty="0">
                  <a:latin typeface="Arabolical" panose="00000400000000000000" pitchFamily="2" charset="0"/>
                </a:rPr>
                <a:t>: Casablanca- Settat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DD04D90-9FC8-466C-B513-7430F503605C}"/>
                </a:ext>
              </a:extLst>
            </p:cNvPr>
            <p:cNvSpPr txBox="1"/>
            <p:nvPr/>
          </p:nvSpPr>
          <p:spPr>
            <a:xfrm>
              <a:off x="4637312" y="4543351"/>
              <a:ext cx="28139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latin typeface="Arabolical" panose="00000400000000000000" pitchFamily="2" charset="0"/>
                </a:rPr>
                <a:t>Mathématiques</a:t>
              </a:r>
              <a:r>
                <a:rPr lang="fr-FR" dirty="0"/>
                <a:t> 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6A2DA71B-F55B-45BE-8156-35763C66F64D}"/>
                </a:ext>
              </a:extLst>
            </p:cNvPr>
            <p:cNvSpPr txBox="1"/>
            <p:nvPr/>
          </p:nvSpPr>
          <p:spPr>
            <a:xfrm>
              <a:off x="8208322" y="6384525"/>
              <a:ext cx="41256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latin typeface="Arabolical" panose="00000400000000000000" pitchFamily="2" charset="0"/>
                </a:rPr>
                <a:t>Année scolaire: 2020-2021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DC44BA1C-C9C1-43DA-8313-C8D6B88B2977}"/>
                </a:ext>
              </a:extLst>
            </p:cNvPr>
            <p:cNvSpPr txBox="1"/>
            <p:nvPr/>
          </p:nvSpPr>
          <p:spPr>
            <a:xfrm>
              <a:off x="7543801" y="495299"/>
              <a:ext cx="46264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latin typeface="Arabolical" panose="00000400000000000000" pitchFamily="2" charset="0"/>
                </a:rPr>
                <a:t>Professeur : JAOUHARI MOUNIR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4E31DBE4-07B5-4A58-9DAD-8D7468F09D98}"/>
                </a:ext>
              </a:extLst>
            </p:cNvPr>
            <p:cNvSpPr txBox="1"/>
            <p:nvPr/>
          </p:nvSpPr>
          <p:spPr>
            <a:xfrm>
              <a:off x="4332513" y="5391546"/>
              <a:ext cx="3526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Arabolical" panose="00000400000000000000" pitchFamily="2" charset="0"/>
                </a:rPr>
                <a:t>Niveaux: 3</a:t>
              </a:r>
              <a:r>
                <a:rPr lang="fr-FR" baseline="30000" dirty="0">
                  <a:latin typeface="Arabolical" panose="00000400000000000000" pitchFamily="2" charset="0"/>
                </a:rPr>
                <a:t>ème</a:t>
              </a:r>
              <a:r>
                <a:rPr lang="fr-FR" dirty="0">
                  <a:latin typeface="Arabolical" panose="00000400000000000000" pitchFamily="2" charset="0"/>
                </a:rPr>
                <a:t>  APIC Collège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89F9BA5F-0906-43B1-AAB6-9F547224647A}"/>
                </a:ext>
              </a:extLst>
            </p:cNvPr>
            <p:cNvSpPr txBox="1"/>
            <p:nvPr/>
          </p:nvSpPr>
          <p:spPr>
            <a:xfrm>
              <a:off x="1817914" y="2857369"/>
              <a:ext cx="8730342" cy="1107996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fr-FR" sz="6600" b="1" dirty="0">
                  <a:solidFill>
                    <a:schemeClr val="tx1">
                      <a:lumMod val="85000"/>
                    </a:schemeClr>
                  </a:solidFill>
                  <a:latin typeface="Arabolical" panose="00000400000000000000" pitchFamily="2" charset="0"/>
                </a:rPr>
                <a:t>Les racines carrées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D8CC23-9FE1-4794-A63E-4AF056941F15}"/>
                </a:ext>
              </a:extLst>
            </p:cNvPr>
            <p:cNvSpPr/>
            <p:nvPr/>
          </p:nvSpPr>
          <p:spPr>
            <a:xfrm>
              <a:off x="-1" y="0"/>
              <a:ext cx="12170231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41601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FB85483-EFE4-4853-B01D-4545B019173F}"/>
              </a:ext>
            </a:extLst>
          </p:cNvPr>
          <p:cNvSpPr txBox="1"/>
          <p:nvPr/>
        </p:nvSpPr>
        <p:spPr>
          <a:xfrm>
            <a:off x="2367148" y="291997"/>
            <a:ext cx="7893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olical" panose="00000400000000000000" pitchFamily="2" charset="0"/>
              </a:rPr>
              <a:t>Plan et objectifs du cours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D8CC23-9FE1-4794-A63E-4AF056941F15}"/>
              </a:ext>
            </a:extLst>
          </p:cNvPr>
          <p:cNvSpPr/>
          <p:nvPr/>
        </p:nvSpPr>
        <p:spPr>
          <a:xfrm>
            <a:off x="-1" y="0"/>
            <a:ext cx="12170231" cy="6858000"/>
          </a:xfrm>
          <a:prstGeom prst="rect">
            <a:avLst/>
          </a:prstGeom>
          <a:noFill/>
          <a:ln w="1905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F497679-D2EB-4764-9A9B-FDBCF7D901AC}"/>
              </a:ext>
            </a:extLst>
          </p:cNvPr>
          <p:cNvCxnSpPr>
            <a:cxnSpLocks/>
          </p:cNvCxnSpPr>
          <p:nvPr/>
        </p:nvCxnSpPr>
        <p:spPr>
          <a:xfrm flipV="1">
            <a:off x="2481943" y="1090174"/>
            <a:ext cx="698269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65CC97C-C200-4BA9-A93E-32B8F3F0FDBA}"/>
                  </a:ext>
                </a:extLst>
              </p:cNvPr>
              <p:cNvSpPr txBox="1"/>
              <p:nvPr/>
            </p:nvSpPr>
            <p:spPr>
              <a:xfrm>
                <a:off x="491836" y="1188709"/>
                <a:ext cx="5343896" cy="6247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00050" indent="-400050">
                  <a:buFont typeface="+mj-lt"/>
                  <a:buAutoNum type="romanUcPeriod"/>
                </a:pPr>
                <a:r>
                  <a:rPr lang="fr-FR" sz="4000" dirty="0">
                    <a:latin typeface="Gloucester MT Extra Condensed" panose="02030808020601010101" pitchFamily="18" charset="0"/>
                    <a:ea typeface="Change Tomorrow Today" pitchFamily="2" charset="0"/>
                    <a:cs typeface="Carlito" panose="020F0502020204030204" pitchFamily="34" charset="0"/>
                  </a:rPr>
                  <a:t>Racine carré d’un nombre réel positif</a:t>
                </a:r>
              </a:p>
              <a:p>
                <a:pPr marL="400050" indent="-400050">
                  <a:buFont typeface="+mj-lt"/>
                  <a:buAutoNum type="romanUcPeriod"/>
                </a:pPr>
                <a:r>
                  <a:rPr lang="fr-FR" sz="4000" dirty="0">
                    <a:latin typeface="Gloucester MT Extra Condensed" panose="02030808020601010101" pitchFamily="18" charset="0"/>
                    <a:ea typeface="Change Tomorrow Today" pitchFamily="2" charset="0"/>
                    <a:cs typeface="Carlito" panose="020F0502020204030204" pitchFamily="34" charset="0"/>
                  </a:rPr>
                  <a:t>L’équation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fr-FR" sz="4000" dirty="0">
                  <a:latin typeface="Gloucester MT Extra Condensed" panose="02030808020601010101" pitchFamily="18" charset="0"/>
                  <a:ea typeface="Change Tomorrow Today" pitchFamily="2" charset="0"/>
                  <a:cs typeface="Carlito" panose="020F0502020204030204" pitchFamily="34" charset="0"/>
                </a:endParaRPr>
              </a:p>
              <a:p>
                <a:pPr marL="400050" indent="-400050">
                  <a:buFont typeface="+mj-lt"/>
                  <a:buAutoNum type="romanUcPeriod"/>
                </a:pPr>
                <a:r>
                  <a:rPr lang="fr-FR" sz="4000" dirty="0">
                    <a:latin typeface="Gloucester MT Extra Condensed" panose="02030808020601010101" pitchFamily="18" charset="0"/>
                    <a:ea typeface="Change Tomorrow Today" pitchFamily="2" charset="0"/>
                    <a:cs typeface="Carlito" panose="020F0502020204030204" pitchFamily="34" charset="0"/>
                  </a:rPr>
                  <a:t>Opérations sur les racines carrées</a:t>
                </a:r>
              </a:p>
              <a:p>
                <a:pPr marL="857250" lvl="1" indent="-400050">
                  <a:buFont typeface="+mj-lt"/>
                  <a:buAutoNum type="arabicPeriod"/>
                </a:pPr>
                <a:r>
                  <a:rPr lang="fr-FR" sz="4000" dirty="0">
                    <a:latin typeface="Gloucester MT Extra Condensed" panose="02030808020601010101" pitchFamily="18" charset="0"/>
                    <a:ea typeface="Change Tomorrow Today" pitchFamily="2" charset="0"/>
                    <a:cs typeface="Carlito" panose="020F0502020204030204" pitchFamily="34" charset="0"/>
                  </a:rPr>
                  <a:t>Racine carrée d’un produit</a:t>
                </a:r>
              </a:p>
              <a:p>
                <a:pPr marL="857250" lvl="1" indent="-400050">
                  <a:buFont typeface="+mj-lt"/>
                  <a:buAutoNum type="arabicPeriod"/>
                </a:pPr>
                <a:r>
                  <a:rPr lang="fr-FR" sz="4000" dirty="0">
                    <a:latin typeface="Gloucester MT Extra Condensed" panose="02030808020601010101" pitchFamily="18" charset="0"/>
                    <a:ea typeface="Change Tomorrow Today" pitchFamily="2" charset="0"/>
                    <a:cs typeface="Carlito" panose="020F0502020204030204" pitchFamily="34" charset="0"/>
                  </a:rPr>
                  <a:t>Racine carrée d’un quotient</a:t>
                </a:r>
              </a:p>
              <a:p>
                <a:pPr marL="857250" lvl="1" indent="-400050">
                  <a:buFont typeface="+mj-lt"/>
                  <a:buAutoNum type="arabicPeriod"/>
                </a:pPr>
                <a:r>
                  <a:rPr lang="fr-FR" sz="4000" dirty="0">
                    <a:latin typeface="Gloucester MT Extra Condensed" panose="02030808020601010101" pitchFamily="18" charset="0"/>
                    <a:ea typeface="Change Tomorrow Today" pitchFamily="2" charset="0"/>
                    <a:cs typeface="Carlito" panose="020F0502020204030204" pitchFamily="34" charset="0"/>
                  </a:rPr>
                  <a:t>Expression conjuguée.</a:t>
                </a:r>
              </a:p>
              <a:p>
                <a:endParaRPr lang="fr-FR" sz="4000" dirty="0">
                  <a:latin typeface="Gloucester MT Extra Condensed" panose="02030808020601010101" pitchFamily="18" charset="0"/>
                  <a:ea typeface="Change Tomorrow Today" pitchFamily="2" charset="0"/>
                  <a:cs typeface="Carlito" panose="020F0502020204030204" pitchFamily="34" charset="0"/>
                </a:endParaRPr>
              </a:p>
              <a:p>
                <a:endParaRPr lang="fr-FR" sz="4000" dirty="0">
                  <a:latin typeface="Change Tomorrow Today" pitchFamily="2" charset="0"/>
                  <a:ea typeface="Change Tomorrow Today" pitchFamily="2" charset="0"/>
                  <a:cs typeface="Carlito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65CC97C-C200-4BA9-A93E-32B8F3F0F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36" y="1188709"/>
                <a:ext cx="5343896" cy="6247864"/>
              </a:xfrm>
              <a:prstGeom prst="rect">
                <a:avLst/>
              </a:prstGeom>
              <a:blipFill>
                <a:blip r:embed="rId2"/>
                <a:stretch>
                  <a:fillRect l="-3881" t="-17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9D81A3D-531F-4B2E-A732-B6D4E11B548F}"/>
              </a:ext>
            </a:extLst>
          </p:cNvPr>
          <p:cNvCxnSpPr>
            <a:cxnSpLocks/>
          </p:cNvCxnSpPr>
          <p:nvPr/>
        </p:nvCxnSpPr>
        <p:spPr>
          <a:xfrm flipV="1">
            <a:off x="6085114" y="1143563"/>
            <a:ext cx="0" cy="5316614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407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BCF644C9-8DAC-41FA-A9FA-CCA3ADD6C296}"/>
              </a:ext>
            </a:extLst>
          </p:cNvPr>
          <p:cNvSpPr txBox="1"/>
          <p:nvPr/>
        </p:nvSpPr>
        <p:spPr>
          <a:xfrm>
            <a:off x="186780" y="918935"/>
            <a:ext cx="59092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fr-FR" sz="3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tura MT Script Capitals" panose="03020802060602070202" pitchFamily="66" charset="0"/>
                <a:ea typeface="Change Tomorrow Today" pitchFamily="2" charset="0"/>
                <a:cs typeface="Carlito" panose="020F0502020204030204" pitchFamily="34" charset="0"/>
              </a:rPr>
              <a:t>Racine carré d’un nombre réel positif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69620F48-E1C1-4D49-AABE-ADBA454E15EE}"/>
                  </a:ext>
                </a:extLst>
              </p:cNvPr>
              <p:cNvSpPr txBox="1"/>
              <p:nvPr/>
            </p:nvSpPr>
            <p:spPr>
              <a:xfrm>
                <a:off x="312892" y="2347686"/>
                <a:ext cx="5622079" cy="1982274"/>
              </a:xfrm>
              <a:prstGeom prst="rect">
                <a:avLst/>
              </a:prstGeom>
              <a:noFill/>
              <a:ln w="571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2000" b="1" dirty="0">
                    <a:solidFill>
                      <a:schemeClr val="accent5">
                        <a:lumMod val="5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Définition 1: </a:t>
                </a:r>
                <a:r>
                  <a:rPr lang="fr-F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la racine carrée d'un nombre réel positif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est l'unique réel positif qui, lorsqu'il est multiplié par lui-même, donne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c'est-à-dire le nombre positif dont le carré vaut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On le note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fr-F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Dans cette expression, </a:t>
                </a:r>
                <a14:m>
                  <m:oMath xmlns:m="http://schemas.openxmlformats.org/officeDocument/2006/math">
                    <m:r>
                      <a:rPr lang="fr-F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est appelé le</a:t>
                </a:r>
                <a:r>
                  <a:rPr lang="fr-FR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fr-FR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radicande</a:t>
                </a:r>
                <a:r>
                  <a:rPr lang="fr-FR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fr-F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et le signe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/>
                    </m:rad>
                  </m:oMath>
                </a14:m>
                <a:r>
                  <a:rPr lang="fr-F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est appelé le </a:t>
                </a:r>
                <a:r>
                  <a:rPr lang="fr-FR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radical</a:t>
                </a:r>
              </a:p>
            </p:txBody>
          </p:sp>
        </mc:Choice>
        <mc:Fallback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69620F48-E1C1-4D49-AABE-ADBA454E1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92" y="2347686"/>
                <a:ext cx="5622079" cy="1982274"/>
              </a:xfrm>
              <a:prstGeom prst="rect">
                <a:avLst/>
              </a:prstGeom>
              <a:blipFill>
                <a:blip r:embed="rId2"/>
                <a:stretch>
                  <a:fillRect l="-751" t="-599" r="-644" b="-4491"/>
                </a:stretch>
              </a:blipFill>
              <a:ln w="571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93CB849C-71DA-4E25-BEFD-4FE89B7689E5}"/>
              </a:ext>
            </a:extLst>
          </p:cNvPr>
          <p:cNvSpPr txBox="1"/>
          <p:nvPr/>
        </p:nvSpPr>
        <p:spPr>
          <a:xfrm>
            <a:off x="393410" y="4492895"/>
            <a:ext cx="562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orte" panose="03060902040502070203" pitchFamily="66" charset="0"/>
              </a:rPr>
              <a:t>Exemple: </a:t>
            </a:r>
          </a:p>
        </p:txBody>
      </p:sp>
    </p:spTree>
    <p:extLst>
      <p:ext uri="{BB962C8B-B14F-4D97-AF65-F5344CB8AC3E}">
        <p14:creationId xmlns:p14="http://schemas.microsoft.com/office/powerpoint/2010/main" val="276346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10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46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92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43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55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13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63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27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6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40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22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60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48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40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71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90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62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35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66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85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38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02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01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72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22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e 371">
            <a:extLst>
              <a:ext uri="{FF2B5EF4-FFF2-40B4-BE49-F238E27FC236}">
                <a16:creationId xmlns:a16="http://schemas.microsoft.com/office/drawing/2014/main" id="{509CD084-0204-4930-BC9F-3CFA3EF7A0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0A1846-8D69-4E16-82D3-08278619147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31" name="Connecteur droit 330">
              <a:extLst>
                <a:ext uri="{FF2B5EF4-FFF2-40B4-BE49-F238E27FC236}">
                  <a16:creationId xmlns:a16="http://schemas.microsoft.com/office/drawing/2014/main" id="{732E8DB3-67BF-48A6-AC0A-0F1563EBD7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83771"/>
              <a:ext cx="1" cy="590005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CFD6B8FF-7238-4848-B733-9269D8702359}"/>
                </a:ext>
              </a:extLst>
            </p:cNvPr>
            <p:cNvGrpSpPr/>
            <p:nvPr/>
          </p:nvGrpSpPr>
          <p:grpSpPr>
            <a:xfrm>
              <a:off x="174171" y="370114"/>
              <a:ext cx="5649686" cy="5932715"/>
              <a:chOff x="0" y="370114"/>
              <a:chExt cx="12192000" cy="5932715"/>
            </a:xfrm>
          </p:grpSpPr>
          <p:cxnSp>
            <p:nvCxnSpPr>
              <p:cNvPr id="341" name="Connecteur droit 340">
                <a:extLst>
                  <a:ext uri="{FF2B5EF4-FFF2-40B4-BE49-F238E27FC236}">
                    <a16:creationId xmlns:a16="http://schemas.microsoft.com/office/drawing/2014/main" id="{D050AC8D-88F0-40A1-BDA0-1A907EF2E66B}"/>
                  </a:ext>
                </a:extLst>
              </p:cNvPr>
              <p:cNvCxnSpPr/>
              <p:nvPr/>
            </p:nvCxnSpPr>
            <p:spPr>
              <a:xfrm>
                <a:off x="0" y="86450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2" name="Connecteur droit 341">
                <a:extLst>
                  <a:ext uri="{FF2B5EF4-FFF2-40B4-BE49-F238E27FC236}">
                    <a16:creationId xmlns:a16="http://schemas.microsoft.com/office/drawing/2014/main" id="{D341C970-7361-4DC0-A54C-77B7CF8F7CA3}"/>
                  </a:ext>
                </a:extLst>
              </p:cNvPr>
              <p:cNvCxnSpPr/>
              <p:nvPr/>
            </p:nvCxnSpPr>
            <p:spPr>
              <a:xfrm>
                <a:off x="122463" y="37011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3" name="Connecteur droit 342">
                <a:extLst>
                  <a:ext uri="{FF2B5EF4-FFF2-40B4-BE49-F238E27FC236}">
                    <a16:creationId xmlns:a16="http://schemas.microsoft.com/office/drawing/2014/main" id="{55A3D8AF-8B61-49AD-BBEC-0587C1F9D708}"/>
                  </a:ext>
                </a:extLst>
              </p:cNvPr>
              <p:cNvCxnSpPr/>
              <p:nvPr/>
            </p:nvCxnSpPr>
            <p:spPr>
              <a:xfrm>
                <a:off x="163286" y="1358900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4" name="Connecteur droit 343">
                <a:extLst>
                  <a:ext uri="{FF2B5EF4-FFF2-40B4-BE49-F238E27FC236}">
                    <a16:creationId xmlns:a16="http://schemas.microsoft.com/office/drawing/2014/main" id="{6CF27D89-636C-4588-9783-7100F3A4F673}"/>
                  </a:ext>
                </a:extLst>
              </p:cNvPr>
              <p:cNvCxnSpPr/>
              <p:nvPr/>
            </p:nvCxnSpPr>
            <p:spPr>
              <a:xfrm>
                <a:off x="81642" y="1853293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5" name="Connecteur droit 344">
                <a:extLst>
                  <a:ext uri="{FF2B5EF4-FFF2-40B4-BE49-F238E27FC236}">
                    <a16:creationId xmlns:a16="http://schemas.microsoft.com/office/drawing/2014/main" id="{9B794EE4-7F78-4FE4-B8D0-086692AF6CDA}"/>
                  </a:ext>
                </a:extLst>
              </p:cNvPr>
              <p:cNvCxnSpPr/>
              <p:nvPr/>
            </p:nvCxnSpPr>
            <p:spPr>
              <a:xfrm>
                <a:off x="68035" y="2347686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6" name="Connecteur droit 345">
                <a:extLst>
                  <a:ext uri="{FF2B5EF4-FFF2-40B4-BE49-F238E27FC236}">
                    <a16:creationId xmlns:a16="http://schemas.microsoft.com/office/drawing/2014/main" id="{0D6A344D-3F18-4ABE-8EF3-5D218073F47D}"/>
                  </a:ext>
                </a:extLst>
              </p:cNvPr>
              <p:cNvCxnSpPr/>
              <p:nvPr/>
            </p:nvCxnSpPr>
            <p:spPr>
              <a:xfrm>
                <a:off x="54428" y="284207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7" name="Connecteur droit 346">
                <a:extLst>
                  <a:ext uri="{FF2B5EF4-FFF2-40B4-BE49-F238E27FC236}">
                    <a16:creationId xmlns:a16="http://schemas.microsoft.com/office/drawing/2014/main" id="{B0EAD07F-7CFB-4F35-ADE4-1E60BD7C4926}"/>
                  </a:ext>
                </a:extLst>
              </p:cNvPr>
              <p:cNvCxnSpPr/>
              <p:nvPr/>
            </p:nvCxnSpPr>
            <p:spPr>
              <a:xfrm>
                <a:off x="40821" y="3336472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8" name="Connecteur droit 347">
                <a:extLst>
                  <a:ext uri="{FF2B5EF4-FFF2-40B4-BE49-F238E27FC236}">
                    <a16:creationId xmlns:a16="http://schemas.microsoft.com/office/drawing/2014/main" id="{9CD30CE0-8EDE-41C4-B5B7-B1DC6956C372}"/>
                  </a:ext>
                </a:extLst>
              </p:cNvPr>
              <p:cNvCxnSpPr/>
              <p:nvPr/>
            </p:nvCxnSpPr>
            <p:spPr>
              <a:xfrm>
                <a:off x="149677" y="3830865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9" name="Connecteur droit 348">
                <a:extLst>
                  <a:ext uri="{FF2B5EF4-FFF2-40B4-BE49-F238E27FC236}">
                    <a16:creationId xmlns:a16="http://schemas.microsoft.com/office/drawing/2014/main" id="{B488B0FA-F635-44B4-A51D-CFE636F1EB5C}"/>
                  </a:ext>
                </a:extLst>
              </p:cNvPr>
              <p:cNvCxnSpPr/>
              <p:nvPr/>
            </p:nvCxnSpPr>
            <p:spPr>
              <a:xfrm>
                <a:off x="27214" y="4325258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0" name="Connecteur droit 349">
                <a:extLst>
                  <a:ext uri="{FF2B5EF4-FFF2-40B4-BE49-F238E27FC236}">
                    <a16:creationId xmlns:a16="http://schemas.microsoft.com/office/drawing/2014/main" id="{34D65107-5B7C-4F96-AA51-91ED53B72F29}"/>
                  </a:ext>
                </a:extLst>
              </p:cNvPr>
              <p:cNvCxnSpPr/>
              <p:nvPr/>
            </p:nvCxnSpPr>
            <p:spPr>
              <a:xfrm>
                <a:off x="13607" y="4819651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1" name="Connecteur droit 350">
                <a:extLst>
                  <a:ext uri="{FF2B5EF4-FFF2-40B4-BE49-F238E27FC236}">
                    <a16:creationId xmlns:a16="http://schemas.microsoft.com/office/drawing/2014/main" id="{DD083AA7-41D0-4B4F-8604-10F52F291069}"/>
                  </a:ext>
                </a:extLst>
              </p:cNvPr>
              <p:cNvCxnSpPr/>
              <p:nvPr/>
            </p:nvCxnSpPr>
            <p:spPr>
              <a:xfrm>
                <a:off x="108856" y="5314044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2" name="Connecteur droit 351">
                <a:extLst>
                  <a:ext uri="{FF2B5EF4-FFF2-40B4-BE49-F238E27FC236}">
                    <a16:creationId xmlns:a16="http://schemas.microsoft.com/office/drawing/2014/main" id="{BD44FD63-997D-4748-A4EF-A7E742EAC34A}"/>
                  </a:ext>
                </a:extLst>
              </p:cNvPr>
              <p:cNvCxnSpPr/>
              <p:nvPr/>
            </p:nvCxnSpPr>
            <p:spPr>
              <a:xfrm>
                <a:off x="136070" y="5808437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3" name="Connecteur droit 352">
                <a:extLst>
                  <a:ext uri="{FF2B5EF4-FFF2-40B4-BE49-F238E27FC236}">
                    <a16:creationId xmlns:a16="http://schemas.microsoft.com/office/drawing/2014/main" id="{BFBEAA60-8342-42F1-9190-E3236AFE8B08}"/>
                  </a:ext>
                </a:extLst>
              </p:cNvPr>
              <p:cNvCxnSpPr/>
              <p:nvPr/>
            </p:nvCxnSpPr>
            <p:spPr>
              <a:xfrm>
                <a:off x="95249" y="6302829"/>
                <a:ext cx="12028714" cy="0"/>
              </a:xfrm>
              <a:prstGeom prst="line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5" name="Groupe 354">
            <a:extLst>
              <a:ext uri="{FF2B5EF4-FFF2-40B4-BE49-F238E27FC236}">
                <a16:creationId xmlns:a16="http://schemas.microsoft.com/office/drawing/2014/main" id="{D08D1888-975F-4A95-92DD-5D8152E5D61D}"/>
              </a:ext>
            </a:extLst>
          </p:cNvPr>
          <p:cNvGrpSpPr/>
          <p:nvPr/>
        </p:nvGrpSpPr>
        <p:grpSpPr>
          <a:xfrm>
            <a:off x="6292477" y="370114"/>
            <a:ext cx="5649686" cy="5932715"/>
            <a:chOff x="0" y="370114"/>
            <a:chExt cx="12192000" cy="5932715"/>
          </a:xfrm>
        </p:grpSpPr>
        <p:cxnSp>
          <p:nvCxnSpPr>
            <p:cNvPr id="356" name="Connecteur droit 355">
              <a:extLst>
                <a:ext uri="{FF2B5EF4-FFF2-40B4-BE49-F238E27FC236}">
                  <a16:creationId xmlns:a16="http://schemas.microsoft.com/office/drawing/2014/main" id="{0A52804C-CE0E-4F48-B2D3-0D82CC15A260}"/>
                </a:ext>
              </a:extLst>
            </p:cNvPr>
            <p:cNvCxnSpPr/>
            <p:nvPr/>
          </p:nvCxnSpPr>
          <p:spPr>
            <a:xfrm>
              <a:off x="0" y="86450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7" name="Connecteur droit 356">
              <a:extLst>
                <a:ext uri="{FF2B5EF4-FFF2-40B4-BE49-F238E27FC236}">
                  <a16:creationId xmlns:a16="http://schemas.microsoft.com/office/drawing/2014/main" id="{1C8E3420-D390-48FD-8FFF-93533ACA8824}"/>
                </a:ext>
              </a:extLst>
            </p:cNvPr>
            <p:cNvCxnSpPr/>
            <p:nvPr/>
          </p:nvCxnSpPr>
          <p:spPr>
            <a:xfrm>
              <a:off x="122463" y="37011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8" name="Connecteur droit 357">
              <a:extLst>
                <a:ext uri="{FF2B5EF4-FFF2-40B4-BE49-F238E27FC236}">
                  <a16:creationId xmlns:a16="http://schemas.microsoft.com/office/drawing/2014/main" id="{03E7E879-DC67-4F63-9129-8381148E3886}"/>
                </a:ext>
              </a:extLst>
            </p:cNvPr>
            <p:cNvCxnSpPr/>
            <p:nvPr/>
          </p:nvCxnSpPr>
          <p:spPr>
            <a:xfrm>
              <a:off x="163286" y="1358900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9" name="Connecteur droit 358">
              <a:extLst>
                <a:ext uri="{FF2B5EF4-FFF2-40B4-BE49-F238E27FC236}">
                  <a16:creationId xmlns:a16="http://schemas.microsoft.com/office/drawing/2014/main" id="{1D82D1F0-3BEA-4ED4-A7BF-2DD17D810176}"/>
                </a:ext>
              </a:extLst>
            </p:cNvPr>
            <p:cNvCxnSpPr/>
            <p:nvPr/>
          </p:nvCxnSpPr>
          <p:spPr>
            <a:xfrm>
              <a:off x="81642" y="1853293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0" name="Connecteur droit 359">
              <a:extLst>
                <a:ext uri="{FF2B5EF4-FFF2-40B4-BE49-F238E27FC236}">
                  <a16:creationId xmlns:a16="http://schemas.microsoft.com/office/drawing/2014/main" id="{EAB3D077-8261-4A53-BAD4-F014B7EF201A}"/>
                </a:ext>
              </a:extLst>
            </p:cNvPr>
            <p:cNvCxnSpPr/>
            <p:nvPr/>
          </p:nvCxnSpPr>
          <p:spPr>
            <a:xfrm>
              <a:off x="68035" y="2347686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1" name="Connecteur droit 360">
              <a:extLst>
                <a:ext uri="{FF2B5EF4-FFF2-40B4-BE49-F238E27FC236}">
                  <a16:creationId xmlns:a16="http://schemas.microsoft.com/office/drawing/2014/main" id="{1E923D1E-4AC5-4F4A-A130-8F47090FE9F3}"/>
                </a:ext>
              </a:extLst>
            </p:cNvPr>
            <p:cNvCxnSpPr/>
            <p:nvPr/>
          </p:nvCxnSpPr>
          <p:spPr>
            <a:xfrm>
              <a:off x="54428" y="284207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Connecteur droit 361">
              <a:extLst>
                <a:ext uri="{FF2B5EF4-FFF2-40B4-BE49-F238E27FC236}">
                  <a16:creationId xmlns:a16="http://schemas.microsoft.com/office/drawing/2014/main" id="{DAE3F407-4262-471F-AF73-339D2B6445A1}"/>
                </a:ext>
              </a:extLst>
            </p:cNvPr>
            <p:cNvCxnSpPr/>
            <p:nvPr/>
          </p:nvCxnSpPr>
          <p:spPr>
            <a:xfrm>
              <a:off x="40821" y="3336472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3" name="Connecteur droit 362">
              <a:extLst>
                <a:ext uri="{FF2B5EF4-FFF2-40B4-BE49-F238E27FC236}">
                  <a16:creationId xmlns:a16="http://schemas.microsoft.com/office/drawing/2014/main" id="{BD5DFFE4-9822-4B28-82DD-64ACBF5FC40D}"/>
                </a:ext>
              </a:extLst>
            </p:cNvPr>
            <p:cNvCxnSpPr/>
            <p:nvPr/>
          </p:nvCxnSpPr>
          <p:spPr>
            <a:xfrm>
              <a:off x="149677" y="3830865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4" name="Connecteur droit 363">
              <a:extLst>
                <a:ext uri="{FF2B5EF4-FFF2-40B4-BE49-F238E27FC236}">
                  <a16:creationId xmlns:a16="http://schemas.microsoft.com/office/drawing/2014/main" id="{65B4001D-12CE-442F-A029-A8B510CCDB4B}"/>
                </a:ext>
              </a:extLst>
            </p:cNvPr>
            <p:cNvCxnSpPr/>
            <p:nvPr/>
          </p:nvCxnSpPr>
          <p:spPr>
            <a:xfrm>
              <a:off x="27214" y="4325258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5" name="Connecteur droit 364">
              <a:extLst>
                <a:ext uri="{FF2B5EF4-FFF2-40B4-BE49-F238E27FC236}">
                  <a16:creationId xmlns:a16="http://schemas.microsoft.com/office/drawing/2014/main" id="{FB10E854-720B-4C3B-B5F8-10F539D87F97}"/>
                </a:ext>
              </a:extLst>
            </p:cNvPr>
            <p:cNvCxnSpPr/>
            <p:nvPr/>
          </p:nvCxnSpPr>
          <p:spPr>
            <a:xfrm>
              <a:off x="13607" y="4819651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6" name="Connecteur droit 365">
              <a:extLst>
                <a:ext uri="{FF2B5EF4-FFF2-40B4-BE49-F238E27FC236}">
                  <a16:creationId xmlns:a16="http://schemas.microsoft.com/office/drawing/2014/main" id="{11FDAB80-44B3-492F-9DFB-ACFF14AC811E}"/>
                </a:ext>
              </a:extLst>
            </p:cNvPr>
            <p:cNvCxnSpPr/>
            <p:nvPr/>
          </p:nvCxnSpPr>
          <p:spPr>
            <a:xfrm>
              <a:off x="108856" y="5314044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7" name="Connecteur droit 366">
              <a:extLst>
                <a:ext uri="{FF2B5EF4-FFF2-40B4-BE49-F238E27FC236}">
                  <a16:creationId xmlns:a16="http://schemas.microsoft.com/office/drawing/2014/main" id="{84BBBA33-0441-4B2F-9AA2-3036E5C88A71}"/>
                </a:ext>
              </a:extLst>
            </p:cNvPr>
            <p:cNvCxnSpPr/>
            <p:nvPr/>
          </p:nvCxnSpPr>
          <p:spPr>
            <a:xfrm>
              <a:off x="136070" y="5808437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Connecteur droit 367">
              <a:extLst>
                <a:ext uri="{FF2B5EF4-FFF2-40B4-BE49-F238E27FC236}">
                  <a16:creationId xmlns:a16="http://schemas.microsoft.com/office/drawing/2014/main" id="{F46DF9C6-F968-4865-97E9-77E3811BBC59}"/>
                </a:ext>
              </a:extLst>
            </p:cNvPr>
            <p:cNvCxnSpPr/>
            <p:nvPr/>
          </p:nvCxnSpPr>
          <p:spPr>
            <a:xfrm>
              <a:off x="95249" y="6302829"/>
              <a:ext cx="12028714" cy="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3" name="ZoneTexte 372">
            <a:extLst>
              <a:ext uri="{FF2B5EF4-FFF2-40B4-BE49-F238E27FC236}">
                <a16:creationId xmlns:a16="http://schemas.microsoft.com/office/drawing/2014/main" id="{9359C11E-6F02-4F43-B68F-95784D1944EE}"/>
              </a:ext>
            </a:extLst>
          </p:cNvPr>
          <p:cNvSpPr txBox="1"/>
          <p:nvPr/>
        </p:nvSpPr>
        <p:spPr>
          <a:xfrm>
            <a:off x="8382006" y="6379422"/>
            <a:ext cx="380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abolical" panose="00000400000000000000" pitchFamily="2" charset="0"/>
              </a:rPr>
              <a:t>Professeur :JAOUHARI Mounir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839C88-8862-407C-A9D1-66D51705694D}"/>
              </a:ext>
            </a:extLst>
          </p:cNvPr>
          <p:cNvSpPr txBox="1"/>
          <p:nvPr/>
        </p:nvSpPr>
        <p:spPr>
          <a:xfrm>
            <a:off x="2509159" y="141106"/>
            <a:ext cx="717368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abolical" panose="00000400000000000000" pitchFamily="2" charset="0"/>
              </a:rPr>
              <a:t>Leçon 2: les racines carrées 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F6DB030-74DA-4DD4-BDE0-61F50F2D86EF}"/>
              </a:ext>
            </a:extLst>
          </p:cNvPr>
          <p:cNvCxnSpPr>
            <a:cxnSpLocks/>
          </p:cNvCxnSpPr>
          <p:nvPr/>
        </p:nvCxnSpPr>
        <p:spPr>
          <a:xfrm>
            <a:off x="2587348" y="810078"/>
            <a:ext cx="6894109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37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5"/>
    </mc:Choice>
    <mc:Fallback xmlns="">
      <p:transition spd="slow" advTm="25695"/>
    </mc:Fallback>
  </mc:AlternateContent>
</p:sld>
</file>

<file path=ppt/theme/theme1.xml><?xml version="1.0" encoding="utf-8"?>
<a:theme xmlns:a="http://schemas.openxmlformats.org/drawingml/2006/main" name="Office Theme">
  <a:themeElements>
    <a:clrScheme name="Jaune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</TotalTime>
  <Words>446</Words>
  <Application>Microsoft Office PowerPoint</Application>
  <PresentationFormat>Grand écran</PresentationFormat>
  <Paragraphs>82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1" baseType="lpstr">
      <vt:lpstr>Arabolical</vt:lpstr>
      <vt:lpstr>Arial</vt:lpstr>
      <vt:lpstr>Calibri</vt:lpstr>
      <vt:lpstr>Calibri Light</vt:lpstr>
      <vt:lpstr>Cambria Math</vt:lpstr>
      <vt:lpstr>Change Tomorrow Today</vt:lpstr>
      <vt:lpstr>Forte</vt:lpstr>
      <vt:lpstr>Gloucester MT Extra Condensed</vt:lpstr>
      <vt:lpstr>Matura MT Script Capitals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JAOUHARI Mounir</dc:creator>
  <cp:lastModifiedBy>JAOUHARI Mounir</cp:lastModifiedBy>
  <cp:revision>32</cp:revision>
  <cp:lastPrinted>2020-11-04T02:14:40Z</cp:lastPrinted>
  <dcterms:created xsi:type="dcterms:W3CDTF">2020-11-03T18:09:03Z</dcterms:created>
  <dcterms:modified xsi:type="dcterms:W3CDTF">2020-11-04T17:41:03Z</dcterms:modified>
</cp:coreProperties>
</file>